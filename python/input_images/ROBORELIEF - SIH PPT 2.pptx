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16" autoAdjust="0"/>
    <p:restoredTop sz="94660"/>
  </p:normalViewPr>
  <p:slideViewPr>
    <p:cSldViewPr snapToGrid="0" snapToObjects="1">
      <p:cViewPr varScale="1">
        <p:scale>
          <a:sx n="74" d="100"/>
          <a:sy n="74" d="100"/>
        </p:scale>
        <p:origin x="485" y="67"/>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913595" y="1715881"/>
            <a:ext cx="3203509" cy="3426237"/>
          </a:xfrm>
          <a:prstGeom prst="rect">
            <a:avLst/>
          </a:prstGeom>
        </p:spPr>
      </p:pic>
      <p:sp>
        <p:nvSpPr>
          <p:cNvPr id="4" name="Subtitle 3"/>
          <p:cNvSpPr>
            <a:spLocks noGrp="1"/>
          </p:cNvSpPr>
          <p:nvPr>
            <p:ph type="subTitle" idx="1"/>
          </p:nvPr>
        </p:nvSpPr>
        <p:spPr>
          <a:xfrm>
            <a:off x="1524000" y="365271"/>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ROBORELIEF – FUTURE OF DISASTER</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475180" y="-686591"/>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475180" y="1442673"/>
            <a:ext cx="6260134" cy="4989571"/>
          </a:xfrm>
          <a:prstGeom prst="rect">
            <a:avLst/>
          </a:prstGeom>
          <a:noFill/>
        </p:spPr>
        <p:txBody>
          <a:bodyPr wrap="square" rtlCol="0">
            <a:spAutoFit/>
          </a:bodyPr>
          <a:lstStyle/>
          <a:p>
            <a:endParaRPr lang="en-US" sz="1400" dirty="0">
              <a:latin typeface="Aptos" panose="020B0004020202020204" pitchFamily="34" charset="0"/>
            </a:endParaRPr>
          </a:p>
          <a:p>
            <a:pPr marL="285750" indent="-285750" algn="just">
              <a:lnSpc>
                <a:spcPct val="200000"/>
              </a:lnSpc>
              <a:buFont typeface="Arial" panose="020B0604020202020204" pitchFamily="34" charset="0"/>
              <a:buChar char="•"/>
            </a:pPr>
            <a:r>
              <a:rPr lang="en-US" sz="1400" b="1" dirty="0">
                <a:latin typeface="Arial" panose="020B0604020202020204" pitchFamily="34" charset="0"/>
                <a:cs typeface="Arial" panose="020B0604020202020204" pitchFamily="34" charset="0"/>
              </a:rPr>
              <a:t>Problem Statement ID </a:t>
            </a:r>
            <a:r>
              <a:rPr lang="en-US" sz="1400" dirty="0">
                <a:latin typeface="Arial" panose="020B0604020202020204" pitchFamily="34" charset="0"/>
                <a:cs typeface="Arial" panose="020B0604020202020204" pitchFamily="34" charset="0"/>
              </a:rPr>
              <a:t>– SIH26178</a:t>
            </a:r>
          </a:p>
          <a:p>
            <a:pPr marL="285750" indent="-285750" algn="just">
              <a:lnSpc>
                <a:spcPct val="200000"/>
              </a:lnSpc>
              <a:buFont typeface="Arial" panose="020B0604020202020204" pitchFamily="34" charset="0"/>
              <a:buChar char="•"/>
            </a:pPr>
            <a:r>
              <a:rPr lang="en-US" sz="1400" b="1" dirty="0">
                <a:latin typeface="Arial" panose="020B0604020202020204" pitchFamily="34" charset="0"/>
                <a:cs typeface="Arial" panose="020B0604020202020204" pitchFamily="34" charset="0"/>
              </a:rPr>
              <a:t>Problem Statement Title- </a:t>
            </a:r>
            <a:r>
              <a:rPr lang="en-US" sz="1400" dirty="0">
                <a:latin typeface="Arial" panose="020B0604020202020204" pitchFamily="34" charset="0"/>
                <a:cs typeface="Arial" panose="020B0604020202020204" pitchFamily="34" charset="0"/>
              </a:rPr>
              <a:t>A resilient, AI-powered environmental monitoring network that provides early detection, localized intelligence, and actionable alerts for floods, forest fires, pollution events, and other environmental hazards common in India, enabling authorities and communities to shift from reactive disaster response to proactive risk prevention.</a:t>
            </a:r>
          </a:p>
          <a:p>
            <a:pPr marL="285750" indent="-285750" algn="just">
              <a:lnSpc>
                <a:spcPct val="200000"/>
              </a:lnSpc>
              <a:buFont typeface="Arial" panose="020B0604020202020204" pitchFamily="34" charset="0"/>
              <a:buChar char="•"/>
            </a:pPr>
            <a:r>
              <a:rPr lang="en-US" sz="1400" b="1" dirty="0">
                <a:latin typeface="Arial" panose="020B0604020202020204" pitchFamily="34" charset="0"/>
                <a:cs typeface="Arial" panose="020B0604020202020204" pitchFamily="34" charset="0"/>
              </a:rPr>
              <a:t>Theme- </a:t>
            </a:r>
            <a:r>
              <a:rPr lang="en-US" sz="1400" dirty="0">
                <a:latin typeface="Arial" panose="020B0604020202020204" pitchFamily="34" charset="0"/>
                <a:cs typeface="Arial" panose="020B0604020202020204" pitchFamily="34" charset="0"/>
              </a:rPr>
              <a:t>DISASTER MANAGEMENT</a:t>
            </a:r>
          </a:p>
          <a:p>
            <a:pPr marL="285750" indent="-285750" algn="just">
              <a:lnSpc>
                <a:spcPct val="200000"/>
              </a:lnSpc>
              <a:buFont typeface="Arial" panose="020B0604020202020204" pitchFamily="34" charset="0"/>
              <a:buChar char="•"/>
            </a:pPr>
            <a:r>
              <a:rPr lang="en-US" sz="1400" b="1" dirty="0">
                <a:latin typeface="Arial" panose="020B0604020202020204" pitchFamily="34" charset="0"/>
                <a:cs typeface="Arial" panose="020B0604020202020204" pitchFamily="34" charset="0"/>
              </a:rPr>
              <a:t>PS Category- </a:t>
            </a:r>
            <a:r>
              <a:rPr lang="en-US" sz="1400" dirty="0">
                <a:latin typeface="Arial" panose="020B0604020202020204" pitchFamily="34" charset="0"/>
                <a:cs typeface="Arial" panose="020B0604020202020204" pitchFamily="34" charset="0"/>
              </a:rPr>
              <a:t>HARDWARE</a:t>
            </a:r>
          </a:p>
          <a:p>
            <a:pPr marL="285750" indent="-285750" algn="just">
              <a:lnSpc>
                <a:spcPct val="200000"/>
              </a:lnSpc>
              <a:buFont typeface="Arial" panose="020B0604020202020204" pitchFamily="34" charset="0"/>
              <a:buChar char="•"/>
            </a:pPr>
            <a:r>
              <a:rPr lang="en-US" sz="14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1400" b="1" dirty="0">
                <a:latin typeface="Arial" panose="020B0604020202020204" pitchFamily="34" charset="0"/>
                <a:cs typeface="Arial" panose="020B0604020202020204" pitchFamily="34" charset="0"/>
              </a:rPr>
              <a:t>Team Name </a:t>
            </a:r>
            <a:r>
              <a:rPr lang="en-US" sz="1400" dirty="0">
                <a:latin typeface="Arial" panose="020B0604020202020204" pitchFamily="34" charset="0"/>
                <a:cs typeface="Arial" panose="020B0604020202020204" pitchFamily="34" charset="0"/>
              </a:rPr>
              <a:t>- INNOVATRIX</a:t>
            </a:r>
            <a:endParaRPr lang="en-IN" sz="14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94458" y="-384485"/>
            <a:ext cx="10972800" cy="1062337"/>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609600" y="867402"/>
            <a:ext cx="8392540" cy="5509200"/>
          </a:xfrm>
          <a:prstGeom prst="rect">
            <a:avLst/>
          </a:prstGeom>
          <a:noFill/>
          <a:ln w="9525">
            <a:noFill/>
            <a:miter lim="800000"/>
            <a:headEnd/>
            <a:tailEnd/>
          </a:ln>
        </p:spPr>
        <p:txBody>
          <a:bodyPr wrap="square">
            <a:spAutoFit/>
          </a:bodyPr>
          <a:lstStyle/>
          <a:p>
            <a:r>
              <a:rPr lang="en-US" sz="2800" b="1" u="sng" dirty="0">
                <a:solidFill>
                  <a:srgbClr val="002060"/>
                </a:solidFill>
                <a:latin typeface="Aptos Narrow" panose="020B0004020202020204" pitchFamily="34" charset="0"/>
                <a:cs typeface="Arial" pitchFamily="34" charset="0"/>
              </a:rPr>
              <a:t>AUTONOMOUS DISASTER DETECTION AND RESPONSE SYSTEM</a:t>
            </a:r>
          </a:p>
          <a:p>
            <a:r>
              <a:rPr lang="en-US" sz="2800" dirty="0">
                <a:latin typeface="Arial" pitchFamily="34" charset="0"/>
                <a:cs typeface="Arial" pitchFamily="34" charset="0"/>
              </a:rPr>
              <a:t>    </a:t>
            </a:r>
          </a:p>
          <a:p>
            <a:pPr marL="457200" indent="-457200">
              <a:buFont typeface="Arial" panose="020B0604020202020204" pitchFamily="34" charset="0"/>
              <a:buChar char="•"/>
            </a:pPr>
            <a:r>
              <a:rPr lang="en-US" sz="2000" dirty="0">
                <a:solidFill>
                  <a:srgbClr val="0070C0"/>
                </a:solidFill>
                <a:latin typeface="Arial Narrow" panose="020B0606020202030204" pitchFamily="34" charset="0"/>
                <a:cs typeface="Arial" pitchFamily="34" charset="0"/>
              </a:rPr>
              <a:t>Natural disasters </a:t>
            </a:r>
            <a:r>
              <a:rPr lang="en-US" sz="2000" dirty="0">
                <a:latin typeface="Arial Narrow" panose="020B0606020202030204" pitchFamily="34" charset="0"/>
                <a:cs typeface="Arial" pitchFamily="34" charset="0"/>
              </a:rPr>
              <a:t>such as earthquakes, landslides, floods and forest fires can occur suddenly and cause severe damage.</a:t>
            </a:r>
          </a:p>
          <a:p>
            <a:pPr marL="457200" indent="-457200">
              <a:buFont typeface="Arial" panose="020B0604020202020204" pitchFamily="34" charset="0"/>
              <a:buChar char="•"/>
            </a:pPr>
            <a:r>
              <a:rPr lang="en-US" sz="2000" dirty="0">
                <a:solidFill>
                  <a:srgbClr val="0070C0"/>
                </a:solidFill>
                <a:latin typeface="Arial Narrow" panose="020B0606020202030204" pitchFamily="34" charset="0"/>
                <a:cs typeface="Arial" pitchFamily="34" charset="0"/>
              </a:rPr>
              <a:t>Early detection and rapid response </a:t>
            </a:r>
            <a:r>
              <a:rPr lang="en-US" sz="2000" dirty="0">
                <a:latin typeface="Arial Narrow" panose="020B0606020202030204" pitchFamily="34" charset="0"/>
                <a:cs typeface="Arial" pitchFamily="34" charset="0"/>
              </a:rPr>
              <a:t>are essential to reduce casualties and protect rescue personnel.</a:t>
            </a:r>
          </a:p>
          <a:p>
            <a:pPr marL="457200" indent="-457200">
              <a:buFont typeface="Arial" panose="020B0604020202020204" pitchFamily="34" charset="0"/>
              <a:buChar char="•"/>
            </a:pPr>
            <a:r>
              <a:rPr lang="en-US" sz="2000" dirty="0">
                <a:solidFill>
                  <a:srgbClr val="0070C0"/>
                </a:solidFill>
                <a:latin typeface="Arial Narrow" panose="020B0606020202030204" pitchFamily="34" charset="0"/>
                <a:cs typeface="Arial" pitchFamily="34" charset="0"/>
              </a:rPr>
              <a:t>Black Box: </a:t>
            </a:r>
            <a:r>
              <a:rPr lang="en-US" sz="2000" dirty="0">
                <a:latin typeface="Arial Narrow" panose="020B0606020202030204" pitchFamily="34" charset="0"/>
                <a:cs typeface="Arial" pitchFamily="34" charset="0"/>
              </a:rPr>
              <a:t>Integrates multiple ground sensors to continuously monitor disaster-prone areas.</a:t>
            </a:r>
          </a:p>
          <a:p>
            <a:pPr marL="457200" indent="-457200">
              <a:buFont typeface="Arial" panose="020B0604020202020204" pitchFamily="34" charset="0"/>
              <a:buChar char="•"/>
            </a:pPr>
            <a:r>
              <a:rPr lang="en-US" sz="2000" dirty="0">
                <a:solidFill>
                  <a:srgbClr val="0070C0"/>
                </a:solidFill>
                <a:latin typeface="Arial Narrow" panose="020B0606020202030204" pitchFamily="34" charset="0"/>
                <a:cs typeface="Arial" pitchFamily="34" charset="0"/>
              </a:rPr>
              <a:t>Central Processing: </a:t>
            </a:r>
            <a:r>
              <a:rPr lang="en-US" sz="2000" dirty="0">
                <a:latin typeface="Arial Narrow" panose="020B0606020202030204" pitchFamily="34" charset="0"/>
                <a:cs typeface="Arial" pitchFamily="34" charset="0"/>
              </a:rPr>
              <a:t>Analyzes sensor data and identifies abnormal conditions.</a:t>
            </a:r>
          </a:p>
          <a:p>
            <a:pPr marL="457200" indent="-457200">
              <a:buFont typeface="Arial" panose="020B0604020202020204" pitchFamily="34" charset="0"/>
              <a:buChar char="•"/>
            </a:pPr>
            <a:r>
              <a:rPr lang="en-US" sz="2000" dirty="0">
                <a:solidFill>
                  <a:srgbClr val="0070C0"/>
                </a:solidFill>
                <a:latin typeface="Arial Narrow" panose="020B0606020202030204" pitchFamily="34" charset="0"/>
                <a:cs typeface="Arial" pitchFamily="34" charset="0"/>
              </a:rPr>
              <a:t>Autonomous Rover: </a:t>
            </a:r>
            <a:r>
              <a:rPr lang="en-US" sz="2000" dirty="0">
                <a:latin typeface="Arial Narrow" panose="020B0606020202030204" pitchFamily="34" charset="0"/>
                <a:cs typeface="Arial" pitchFamily="34" charset="0"/>
              </a:rPr>
              <a:t>Automatically deployed to the affected zone for real-time ground surveillance.</a:t>
            </a:r>
          </a:p>
          <a:p>
            <a:r>
              <a:rPr lang="en-US" sz="2000" dirty="0">
                <a:solidFill>
                  <a:srgbClr val="FF0000"/>
                </a:solidFill>
                <a:latin typeface="Arial Narrow" panose="020B0606020202030204" pitchFamily="34" charset="0"/>
                <a:cs typeface="Arial" pitchFamily="34" charset="0"/>
              </a:rPr>
              <a:t>Uniqueness:</a:t>
            </a:r>
          </a:p>
          <a:p>
            <a:r>
              <a:rPr lang="en-US" sz="2000" dirty="0">
                <a:latin typeface="Arial Narrow" panose="020B0606020202030204" pitchFamily="34" charset="0"/>
                <a:cs typeface="Arial" pitchFamily="34" charset="0"/>
              </a:rPr>
              <a:t> Combines early detection + automatic response + real-time field intelligence with minimal human intervention.</a:t>
            </a:r>
          </a:p>
          <a:p>
            <a:endParaRPr lang="en-US" sz="2800"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162064" y="-48819"/>
            <a:ext cx="1936955"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INNOVATRIX</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576A0B60-113F-19A2-AECD-F0358A08246A}"/>
              </a:ext>
            </a:extLst>
          </p:cNvPr>
          <p:cNvPicPr>
            <a:picLocks noChangeAspect="1"/>
          </p:cNvPicPr>
          <p:nvPr/>
        </p:nvPicPr>
        <p:blipFill>
          <a:blip r:embed="rId4"/>
          <a:stretch>
            <a:fillRect/>
          </a:stretch>
        </p:blipFill>
        <p:spPr>
          <a:xfrm>
            <a:off x="8927690" y="2035277"/>
            <a:ext cx="2972942" cy="37559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609600" y="-47625"/>
            <a:ext cx="10972800" cy="952193"/>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437927" y="-47625"/>
            <a:ext cx="2138125" cy="652322"/>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INNOVATRIX</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5" name="Picture 4">
            <a:extLst>
              <a:ext uri="{FF2B5EF4-FFF2-40B4-BE49-F238E27FC236}">
                <a16:creationId xmlns:a16="http://schemas.microsoft.com/office/drawing/2014/main" id="{B06473A0-599A-36D9-92DB-93D3B695B0AB}"/>
              </a:ext>
            </a:extLst>
          </p:cNvPr>
          <p:cNvPicPr>
            <a:picLocks noChangeAspect="1"/>
          </p:cNvPicPr>
          <p:nvPr/>
        </p:nvPicPr>
        <p:blipFill>
          <a:blip r:embed="rId4"/>
          <a:stretch>
            <a:fillRect/>
          </a:stretch>
        </p:blipFill>
        <p:spPr>
          <a:xfrm>
            <a:off x="74391" y="807304"/>
            <a:ext cx="4573809" cy="5547458"/>
          </a:xfrm>
          <a:prstGeom prst="rect">
            <a:avLst/>
          </a:prstGeom>
        </p:spPr>
      </p:pic>
      <p:sp>
        <p:nvSpPr>
          <p:cNvPr id="15" name="TextBox 14">
            <a:extLst>
              <a:ext uri="{FF2B5EF4-FFF2-40B4-BE49-F238E27FC236}">
                <a16:creationId xmlns:a16="http://schemas.microsoft.com/office/drawing/2014/main" id="{08B136FA-A3A4-39C4-C56C-D7E0F857E4FE}"/>
              </a:ext>
            </a:extLst>
          </p:cNvPr>
          <p:cNvSpPr txBox="1"/>
          <p:nvPr/>
        </p:nvSpPr>
        <p:spPr>
          <a:xfrm>
            <a:off x="5083276" y="1107175"/>
            <a:ext cx="6761319" cy="4801314"/>
          </a:xfrm>
          <a:prstGeom prst="rect">
            <a:avLst/>
          </a:prstGeom>
          <a:noFill/>
        </p:spPr>
        <p:txBody>
          <a:bodyPr wrap="square" rtlCol="0">
            <a:spAutoFit/>
          </a:bodyPr>
          <a:lstStyle/>
          <a:p>
            <a:r>
              <a:rPr lang="en-IN" b="1" dirty="0">
                <a:solidFill>
                  <a:srgbClr val="FF0000"/>
                </a:solidFill>
                <a:latin typeface="Aptos Narrow" panose="020B0004020202020204" pitchFamily="34" charset="0"/>
              </a:rPr>
              <a:t>Black Box – Disaster Detection</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ESP32</a:t>
            </a:r>
            <a:r>
              <a:rPr lang="en-IN" dirty="0">
                <a:latin typeface="Aptos Narrow" panose="020B0004020202020204" pitchFamily="34" charset="0"/>
              </a:rPr>
              <a:t> – Sensor data acquisition &amp; communication</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MPU6050 </a:t>
            </a:r>
            <a:r>
              <a:rPr lang="en-IN" dirty="0">
                <a:latin typeface="Aptos Narrow" panose="020B0004020202020204" pitchFamily="34" charset="0"/>
              </a:rPr>
              <a:t>– Vibration / motion detection</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DHT11</a:t>
            </a:r>
            <a:r>
              <a:rPr lang="en-IN" dirty="0">
                <a:latin typeface="Aptos Narrow" panose="020B0004020202020204" pitchFamily="34" charset="0"/>
              </a:rPr>
              <a:t> – Temperature &amp; humidity monitoring</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BMP280 </a:t>
            </a:r>
            <a:r>
              <a:rPr lang="en-IN" dirty="0">
                <a:latin typeface="Aptos Narrow" panose="020B0004020202020204" pitchFamily="34" charset="0"/>
              </a:rPr>
              <a:t>– Atmospheric pressure monitoring</a:t>
            </a:r>
          </a:p>
          <a:p>
            <a:pPr marL="285750" indent="-285750">
              <a:buFont typeface="Arial" panose="020B0604020202020204" pitchFamily="34" charset="0"/>
              <a:buChar char="•"/>
            </a:pPr>
            <a:r>
              <a:rPr lang="en-US" dirty="0">
                <a:solidFill>
                  <a:srgbClr val="0070C0"/>
                </a:solidFill>
                <a:latin typeface="Aptos Narrow" panose="020B0004020202020204" pitchFamily="34" charset="0"/>
              </a:rPr>
              <a:t>MQ-2</a:t>
            </a:r>
            <a:r>
              <a:rPr lang="en-US" dirty="0">
                <a:latin typeface="Aptos Narrow" panose="020B0004020202020204" pitchFamily="34" charset="0"/>
              </a:rPr>
              <a:t> Gas Sensor – Smoke / combustible gas detection</a:t>
            </a:r>
          </a:p>
          <a:p>
            <a:pPr marL="285750" indent="-285750">
              <a:buFont typeface="Arial" panose="020B0604020202020204" pitchFamily="34" charset="0"/>
              <a:buChar char="•"/>
            </a:pPr>
            <a:r>
              <a:rPr lang="en-US" dirty="0">
                <a:solidFill>
                  <a:srgbClr val="0070C0"/>
                </a:solidFill>
                <a:latin typeface="Aptos Narrow" panose="020B0004020202020204" pitchFamily="34" charset="0"/>
              </a:rPr>
              <a:t>Water Level Sensor</a:t>
            </a:r>
            <a:r>
              <a:rPr lang="en-US" dirty="0">
                <a:latin typeface="Aptos Narrow" panose="020B0004020202020204" pitchFamily="34" charset="0"/>
              </a:rPr>
              <a:t> – Flood / rising water detection</a:t>
            </a:r>
          </a:p>
          <a:p>
            <a:r>
              <a:rPr lang="en-IN" b="1" dirty="0">
                <a:solidFill>
                  <a:srgbClr val="FF0000"/>
                </a:solidFill>
                <a:latin typeface="Aptos Narrow" panose="020B0004020202020204" pitchFamily="34" charset="0"/>
              </a:rPr>
              <a:t>Central Processing</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Raspberry Pi 4 </a:t>
            </a:r>
            <a:r>
              <a:rPr lang="en-IN" dirty="0">
                <a:latin typeface="Aptos Narrow" panose="020B0004020202020204" pitchFamily="34" charset="0"/>
              </a:rPr>
              <a:t>– Data processing, decision making &amp; alert generation</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micro-ROS / Wireless Communication </a:t>
            </a:r>
            <a:r>
              <a:rPr lang="en-IN" dirty="0">
                <a:latin typeface="Aptos Narrow" panose="020B0004020202020204" pitchFamily="34" charset="0"/>
              </a:rPr>
              <a:t>– ESP32 ↔️ Raspberry Pi data transfer</a:t>
            </a:r>
          </a:p>
          <a:p>
            <a:r>
              <a:rPr lang="en-IN" b="1" dirty="0">
                <a:solidFill>
                  <a:srgbClr val="FF0000"/>
                </a:solidFill>
                <a:latin typeface="Aptos Narrow" panose="020B0004020202020204" pitchFamily="34" charset="0"/>
              </a:rPr>
              <a:t>Autonomous Rover</a:t>
            </a:r>
          </a:p>
          <a:p>
            <a:pPr marL="285750" indent="-285750">
              <a:buFont typeface="Arial" panose="020B0604020202020204" pitchFamily="34" charset="0"/>
              <a:buChar char="•"/>
            </a:pPr>
            <a:r>
              <a:rPr lang="it-IT" dirty="0">
                <a:solidFill>
                  <a:srgbClr val="0070C0"/>
                </a:solidFill>
                <a:latin typeface="Aptos Narrow" panose="020B0004020202020204" pitchFamily="34" charset="0"/>
              </a:rPr>
              <a:t>Raspberry Pi / ESP32 </a:t>
            </a:r>
            <a:r>
              <a:rPr lang="it-IT" dirty="0">
                <a:latin typeface="Aptos Narrow" panose="020B0004020202020204" pitchFamily="34" charset="0"/>
              </a:rPr>
              <a:t>– Rover control</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Camera</a:t>
            </a:r>
            <a:r>
              <a:rPr lang="en-IN" dirty="0">
                <a:solidFill>
                  <a:srgbClr val="00B050"/>
                </a:solidFill>
                <a:latin typeface="Aptos Narrow" panose="020B0004020202020204" pitchFamily="34" charset="0"/>
              </a:rPr>
              <a:t> </a:t>
            </a:r>
            <a:r>
              <a:rPr lang="en-IN" dirty="0">
                <a:latin typeface="Aptos Narrow" panose="020B0004020202020204" pitchFamily="34" charset="0"/>
              </a:rPr>
              <a:t>– Live visual surveillance</a:t>
            </a:r>
          </a:p>
          <a:p>
            <a:pPr marL="285750" indent="-285750">
              <a:buFont typeface="Arial" panose="020B0604020202020204" pitchFamily="34" charset="0"/>
              <a:buChar char="•"/>
            </a:pPr>
            <a:r>
              <a:rPr lang="pt-BR" dirty="0">
                <a:solidFill>
                  <a:srgbClr val="0070C0"/>
                </a:solidFill>
                <a:latin typeface="Aptos Narrow" panose="020B0004020202020204" pitchFamily="34" charset="0"/>
              </a:rPr>
              <a:t>Ultrasonic Sensor / LiDAR </a:t>
            </a:r>
            <a:r>
              <a:rPr lang="pt-BR" dirty="0">
                <a:latin typeface="Aptos Narrow" panose="020B0004020202020204" pitchFamily="34" charset="0"/>
              </a:rPr>
              <a:t>– Obstacle detection</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GPS Module </a:t>
            </a:r>
            <a:r>
              <a:rPr lang="en-IN" dirty="0">
                <a:latin typeface="Aptos Narrow" panose="020B0004020202020204" pitchFamily="34" charset="0"/>
              </a:rPr>
              <a:t>– Location tracking</a:t>
            </a:r>
          </a:p>
          <a:p>
            <a:pPr marL="285750" indent="-285750">
              <a:buFont typeface="Arial" panose="020B0604020202020204" pitchFamily="34" charset="0"/>
              <a:buChar char="•"/>
            </a:pPr>
            <a:r>
              <a:rPr lang="en-IN" dirty="0">
                <a:solidFill>
                  <a:srgbClr val="0070C0"/>
                </a:solidFill>
                <a:latin typeface="Aptos Narrow" panose="020B0004020202020204" pitchFamily="34" charset="0"/>
              </a:rPr>
              <a:t>Motor Driver + DC Motors </a:t>
            </a:r>
            <a:r>
              <a:rPr lang="en-IN" dirty="0">
                <a:latin typeface="Aptos Narrow" panose="020B0004020202020204" pitchFamily="34" charset="0"/>
              </a:rPr>
              <a:t>– Rover movement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2122482"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INNOVATRIX</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1">
            <a:extLst>
              <a:ext uri="{FF2B5EF4-FFF2-40B4-BE49-F238E27FC236}">
                <a16:creationId xmlns:a16="http://schemas.microsoft.com/office/drawing/2014/main" id="{9E1D2E1C-DFA7-89A9-1F27-C7C8443826FE}"/>
              </a:ext>
            </a:extLst>
          </p:cNvPr>
          <p:cNvSpPr/>
          <p:nvPr/>
        </p:nvSpPr>
        <p:spPr>
          <a:xfrm>
            <a:off x="934064" y="2281083"/>
            <a:ext cx="5161935" cy="3706762"/>
          </a:xfrm>
          <a:prstGeom prst="rect">
            <a:avLst/>
          </a:prstGeom>
          <a:solidFill>
            <a:schemeClr val="accent5">
              <a:lumMod val="75000"/>
            </a:schemeClr>
          </a:solidFill>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t>Uses readily available components such as ESP32, Raspberry Pi and sensors.</a:t>
            </a:r>
          </a:p>
          <a:p>
            <a:pPr marL="285750" indent="-285750" algn="ctr">
              <a:buFont typeface="Arial" panose="020B0604020202020204" pitchFamily="34" charset="0"/>
              <a:buChar char="•"/>
            </a:pPr>
            <a:r>
              <a:rPr lang="en-US" dirty="0"/>
              <a:t>Low-cost and modular hardware makes prototyping practical.</a:t>
            </a:r>
          </a:p>
          <a:p>
            <a:pPr marL="285750" indent="-285750" algn="ctr">
              <a:buFont typeface="Arial" panose="020B0604020202020204" pitchFamily="34" charset="0"/>
              <a:buChar char="•"/>
            </a:pPr>
            <a:r>
              <a:rPr lang="en-US" dirty="0"/>
              <a:t>Black Box can operate with low power for continuous monitoring.</a:t>
            </a:r>
          </a:p>
          <a:p>
            <a:pPr marL="285750" indent="-285750" algn="ctr">
              <a:buFont typeface="Arial" panose="020B0604020202020204" pitchFamily="34" charset="0"/>
              <a:buChar char="•"/>
            </a:pPr>
            <a:r>
              <a:rPr lang="en-US" dirty="0"/>
              <a:t>Autonomous rover can be developed using existing robotic platforms.</a:t>
            </a:r>
          </a:p>
          <a:p>
            <a:pPr marL="285750" indent="-285750" algn="ctr">
              <a:buFont typeface="Arial" panose="020B0604020202020204" pitchFamily="34" charset="0"/>
              <a:buChar char="•"/>
            </a:pPr>
            <a:r>
              <a:rPr lang="en-US" dirty="0"/>
              <a:t>Wireless communication enables real-time data transmission.</a:t>
            </a:r>
            <a:endParaRPr lang="en-IN" dirty="0"/>
          </a:p>
        </p:txBody>
      </p:sp>
      <p:sp>
        <p:nvSpPr>
          <p:cNvPr id="3" name="Rectangle 2">
            <a:extLst>
              <a:ext uri="{FF2B5EF4-FFF2-40B4-BE49-F238E27FC236}">
                <a16:creationId xmlns:a16="http://schemas.microsoft.com/office/drawing/2014/main" id="{01BD7BE8-DBEB-26B8-86E4-DA8B0D3487D4}"/>
              </a:ext>
            </a:extLst>
          </p:cNvPr>
          <p:cNvSpPr/>
          <p:nvPr/>
        </p:nvSpPr>
        <p:spPr>
          <a:xfrm>
            <a:off x="6636774" y="2281083"/>
            <a:ext cx="5161936" cy="3706762"/>
          </a:xfrm>
          <a:prstGeom prst="rect">
            <a:avLst/>
          </a:prstGeom>
          <a:solidFill>
            <a:schemeClr val="accent5">
              <a:lumMod val="75000"/>
            </a:schemeClr>
          </a:solidFill>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t>Can be deployed in multiple disaster-prone areas.</a:t>
            </a:r>
          </a:p>
          <a:p>
            <a:pPr marL="285750" indent="-285750" algn="ctr">
              <a:buFont typeface="Arial" panose="020B0604020202020204" pitchFamily="34" charset="0"/>
              <a:buChar char="•"/>
            </a:pPr>
            <a:r>
              <a:rPr lang="en-US" dirty="0"/>
              <a:t>Modular design allows additional sensors for different disasters.</a:t>
            </a:r>
          </a:p>
          <a:p>
            <a:pPr marL="285750" indent="-285750" algn="ctr">
              <a:buFont typeface="Arial" panose="020B0604020202020204" pitchFamily="34" charset="0"/>
              <a:buChar char="•"/>
            </a:pPr>
            <a:r>
              <a:rPr lang="en-US" dirty="0"/>
              <a:t>Reduces human exposure to hazardous environments.</a:t>
            </a:r>
          </a:p>
          <a:p>
            <a:pPr marL="285750" indent="-285750" algn="ctr">
              <a:buFont typeface="Arial" panose="020B0604020202020204" pitchFamily="34" charset="0"/>
              <a:buChar char="•"/>
            </a:pPr>
            <a:r>
              <a:rPr lang="en-US" dirty="0"/>
              <a:t>Continuous monitoring enables early warning and faster response.</a:t>
            </a:r>
          </a:p>
          <a:p>
            <a:pPr marL="285750" indent="-285750" algn="ctr">
              <a:buFont typeface="Arial" panose="020B0604020202020204" pitchFamily="34" charset="0"/>
              <a:buChar char="•"/>
            </a:pPr>
            <a:r>
              <a:rPr lang="en-US" dirty="0"/>
              <a:t>Scalable solution with potential for large-scale disaster management.</a:t>
            </a:r>
            <a:endParaRPr lang="en-IN" dirty="0"/>
          </a:p>
        </p:txBody>
      </p:sp>
      <p:sp>
        <p:nvSpPr>
          <p:cNvPr id="4" name="Rectangle: Rounded Corners 3">
            <a:extLst>
              <a:ext uri="{FF2B5EF4-FFF2-40B4-BE49-F238E27FC236}">
                <a16:creationId xmlns:a16="http://schemas.microsoft.com/office/drawing/2014/main" id="{2770F0B5-E1A0-6094-2470-161A09F22B02}"/>
              </a:ext>
            </a:extLst>
          </p:cNvPr>
          <p:cNvSpPr/>
          <p:nvPr/>
        </p:nvSpPr>
        <p:spPr>
          <a:xfrm>
            <a:off x="934064" y="1462292"/>
            <a:ext cx="5161935" cy="521109"/>
          </a:xfrm>
          <a:prstGeom prst="roundRect">
            <a:avLst/>
          </a:prstGeom>
          <a:solidFill>
            <a:schemeClr val="accent4">
              <a:lumMod val="75000"/>
            </a:schemeClr>
          </a:solidFill>
          <a:ln>
            <a:noFill/>
          </a:ln>
          <a:effectLst>
            <a:outerShdw blurRad="50800" dist="38100" dir="5400000" algn="t" rotWithShape="0">
              <a:prstClr val="black">
                <a:alpha val="40000"/>
              </a:prst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FEASIBILITY</a:t>
            </a:r>
          </a:p>
        </p:txBody>
      </p:sp>
      <p:sp>
        <p:nvSpPr>
          <p:cNvPr id="5" name="Rectangle: Rounded Corners 4">
            <a:extLst>
              <a:ext uri="{FF2B5EF4-FFF2-40B4-BE49-F238E27FC236}">
                <a16:creationId xmlns:a16="http://schemas.microsoft.com/office/drawing/2014/main" id="{79C632C4-9CD9-D6BF-44D1-EA250FB9D5CA}"/>
              </a:ext>
            </a:extLst>
          </p:cNvPr>
          <p:cNvSpPr/>
          <p:nvPr/>
        </p:nvSpPr>
        <p:spPr>
          <a:xfrm>
            <a:off x="6636774" y="1430754"/>
            <a:ext cx="5161936" cy="552647"/>
          </a:xfrm>
          <a:prstGeom prst="roundRect">
            <a:avLst/>
          </a:prstGeom>
          <a:solidFill>
            <a:schemeClr val="accent4">
              <a:lumMod val="75000"/>
            </a:schemeClr>
          </a:solidFill>
          <a:ln>
            <a:noFill/>
          </a:ln>
          <a:effectLst>
            <a:outerShdw blurRad="50800" dist="38100" dir="5400000" algn="t" rotWithShape="0">
              <a:prstClr val="black">
                <a:alpha val="40000"/>
              </a:prstClr>
            </a:outerShdw>
            <a:reflection blurRad="6350" stA="50000" endA="300" endPos="55000" dir="5400000" sy="-100000" algn="bl" rotWithShape="0"/>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t>VIABILITY</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609600" y="-234889"/>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2" y="100777"/>
            <a:ext cx="2249849" cy="7153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INNOVATRIX</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BBA724A9-BBB3-9C20-D678-1251AA194AF3}"/>
              </a:ext>
            </a:extLst>
          </p:cNvPr>
          <p:cNvSpPr txBox="1"/>
          <p:nvPr/>
        </p:nvSpPr>
        <p:spPr>
          <a:xfrm>
            <a:off x="83967" y="1089167"/>
            <a:ext cx="5412265" cy="5078313"/>
          </a:xfrm>
          <a:prstGeom prst="rect">
            <a:avLst/>
          </a:prstGeom>
          <a:noFill/>
        </p:spPr>
        <p:txBody>
          <a:bodyPr wrap="square" rtlCol="0">
            <a:spAutoFit/>
          </a:bodyPr>
          <a:lstStyle/>
          <a:p>
            <a:r>
              <a:rPr lang="en-US" dirty="0">
                <a:solidFill>
                  <a:srgbClr val="C00000"/>
                </a:solidFill>
                <a:latin typeface="Aptos Narrow" panose="020B0004020202020204" pitchFamily="34" charset="0"/>
              </a:rPr>
              <a:t>🚨 Early disaster warning </a:t>
            </a:r>
            <a:r>
              <a:rPr lang="en-US" dirty="0">
                <a:latin typeface="Aptos Narrow" panose="020B0004020202020204" pitchFamily="34" charset="0"/>
              </a:rPr>
              <a:t>through continuous sensor monitoring.</a:t>
            </a:r>
          </a:p>
          <a:p>
            <a:endParaRPr lang="en-US" dirty="0">
              <a:latin typeface="Aptos Narrow" panose="020B0004020202020204" pitchFamily="34" charset="0"/>
            </a:endParaRPr>
          </a:p>
          <a:p>
            <a:r>
              <a:rPr lang="en-US" dirty="0">
                <a:latin typeface="Aptos Narrow" panose="020B0004020202020204" pitchFamily="34" charset="0"/>
              </a:rPr>
              <a:t>⚡ </a:t>
            </a:r>
            <a:r>
              <a:rPr lang="en-US" dirty="0">
                <a:solidFill>
                  <a:srgbClr val="C00000"/>
                </a:solidFill>
                <a:latin typeface="Aptos Narrow" panose="020B0004020202020204" pitchFamily="34" charset="0"/>
              </a:rPr>
              <a:t>Faster emergency response </a:t>
            </a:r>
            <a:r>
              <a:rPr lang="en-US" dirty="0">
                <a:latin typeface="Aptos Narrow" panose="020B0004020202020204" pitchFamily="34" charset="0"/>
              </a:rPr>
              <a:t>by automatically triggering the rover.</a:t>
            </a:r>
          </a:p>
          <a:p>
            <a:endParaRPr lang="en-US" dirty="0">
              <a:latin typeface="Aptos Narrow" panose="020B0004020202020204" pitchFamily="34" charset="0"/>
            </a:endParaRPr>
          </a:p>
          <a:p>
            <a:r>
              <a:rPr lang="en-US" dirty="0">
                <a:solidFill>
                  <a:srgbClr val="C00000"/>
                </a:solidFill>
                <a:latin typeface="Aptos Narrow" panose="020B0004020202020204" pitchFamily="34" charset="0"/>
              </a:rPr>
              <a:t>🛡️ Improves rescuer safety </a:t>
            </a:r>
            <a:r>
              <a:rPr lang="en-US" dirty="0">
                <a:latin typeface="Aptos Narrow" panose="020B0004020202020204" pitchFamily="34" charset="0"/>
              </a:rPr>
              <a:t>by reducing the need for immediate human entry.</a:t>
            </a:r>
          </a:p>
          <a:p>
            <a:endParaRPr lang="en-US" dirty="0">
              <a:latin typeface="Aptos Narrow" panose="020B0004020202020204" pitchFamily="34" charset="0"/>
            </a:endParaRPr>
          </a:p>
          <a:p>
            <a:r>
              <a:rPr lang="en-US" dirty="0">
                <a:latin typeface="Aptos Narrow" panose="020B0004020202020204" pitchFamily="34" charset="0"/>
              </a:rPr>
              <a:t>📡 </a:t>
            </a:r>
            <a:r>
              <a:rPr lang="en-US" dirty="0">
                <a:solidFill>
                  <a:srgbClr val="C00000"/>
                </a:solidFill>
                <a:latin typeface="Aptos Narrow" panose="020B0004020202020204" pitchFamily="34" charset="0"/>
              </a:rPr>
              <a:t>Real-time situational awareness </a:t>
            </a:r>
            <a:r>
              <a:rPr lang="en-US" dirty="0">
                <a:latin typeface="Aptos Narrow" panose="020B0004020202020204" pitchFamily="34" charset="0"/>
              </a:rPr>
              <a:t>through live sensor data and video.</a:t>
            </a:r>
          </a:p>
          <a:p>
            <a:endParaRPr lang="en-US" dirty="0">
              <a:latin typeface="Aptos Narrow" panose="020B0004020202020204" pitchFamily="34" charset="0"/>
            </a:endParaRPr>
          </a:p>
          <a:p>
            <a:r>
              <a:rPr lang="en-US" dirty="0">
                <a:latin typeface="Aptos Narrow" panose="020B0004020202020204" pitchFamily="34" charset="0"/>
              </a:rPr>
              <a:t>🤖 </a:t>
            </a:r>
            <a:r>
              <a:rPr lang="en-US" dirty="0">
                <a:solidFill>
                  <a:srgbClr val="C00000"/>
                </a:solidFill>
                <a:latin typeface="Aptos Narrow" panose="020B0004020202020204" pitchFamily="34" charset="0"/>
              </a:rPr>
              <a:t>Autonomous operation</a:t>
            </a:r>
            <a:r>
              <a:rPr lang="en-US" dirty="0">
                <a:latin typeface="Aptos Narrow" panose="020B0004020202020204" pitchFamily="34" charset="0"/>
              </a:rPr>
              <a:t> with minimal human intervention.</a:t>
            </a:r>
          </a:p>
          <a:p>
            <a:endParaRPr lang="en-US" dirty="0">
              <a:latin typeface="Aptos Narrow" panose="020B0004020202020204" pitchFamily="34" charset="0"/>
            </a:endParaRPr>
          </a:p>
          <a:p>
            <a:r>
              <a:rPr lang="en-US" dirty="0">
                <a:latin typeface="Aptos Narrow" panose="020B0004020202020204" pitchFamily="34" charset="0"/>
              </a:rPr>
              <a:t>🌐 </a:t>
            </a:r>
            <a:r>
              <a:rPr lang="en-US" dirty="0">
                <a:solidFill>
                  <a:srgbClr val="C00000"/>
                </a:solidFill>
                <a:latin typeface="Aptos Narrow" panose="020B0004020202020204" pitchFamily="34" charset="0"/>
              </a:rPr>
              <a:t>24/7 monitoring </a:t>
            </a:r>
            <a:r>
              <a:rPr lang="en-US" dirty="0">
                <a:latin typeface="Aptos Narrow" panose="020B0004020202020204" pitchFamily="34" charset="0"/>
              </a:rPr>
              <a:t>of disaster-prone and remote areas.</a:t>
            </a:r>
          </a:p>
          <a:p>
            <a:endParaRPr lang="en-US" dirty="0"/>
          </a:p>
          <a:p>
            <a:endParaRPr lang="en-US" dirty="0"/>
          </a:p>
        </p:txBody>
      </p:sp>
      <p:sp>
        <p:nvSpPr>
          <p:cNvPr id="13" name="TextBox 12">
            <a:extLst>
              <a:ext uri="{FF2B5EF4-FFF2-40B4-BE49-F238E27FC236}">
                <a16:creationId xmlns:a16="http://schemas.microsoft.com/office/drawing/2014/main" id="{5409B85F-9595-1403-9AA2-6FDEC16A475A}"/>
              </a:ext>
            </a:extLst>
          </p:cNvPr>
          <p:cNvSpPr txBox="1"/>
          <p:nvPr/>
        </p:nvSpPr>
        <p:spPr>
          <a:xfrm>
            <a:off x="6174657" y="1155724"/>
            <a:ext cx="5933375" cy="4801314"/>
          </a:xfrm>
          <a:prstGeom prst="rect">
            <a:avLst/>
          </a:prstGeom>
          <a:noFill/>
        </p:spPr>
        <p:txBody>
          <a:bodyPr wrap="square" rtlCol="0">
            <a:spAutoFit/>
          </a:bodyPr>
          <a:lstStyle/>
          <a:p>
            <a:r>
              <a:rPr lang="en-US" dirty="0">
                <a:solidFill>
                  <a:srgbClr val="C00000"/>
                </a:solidFill>
              </a:rPr>
              <a:t>🔍 </a:t>
            </a:r>
            <a:r>
              <a:rPr lang="en-US" dirty="0">
                <a:solidFill>
                  <a:srgbClr val="C00000"/>
                </a:solidFill>
                <a:latin typeface="Aptos Narrow" panose="020B0004020202020204" pitchFamily="34" charset="0"/>
              </a:rPr>
              <a:t>Ground-level damage assessment </a:t>
            </a:r>
            <a:r>
              <a:rPr lang="en-US" dirty="0">
                <a:latin typeface="Aptos Narrow" panose="020B0004020202020204" pitchFamily="34" charset="0"/>
              </a:rPr>
              <a:t>before rescue teams arrive.</a:t>
            </a:r>
          </a:p>
          <a:p>
            <a:endParaRPr lang="en-US" dirty="0">
              <a:latin typeface="Aptos Narrow" panose="020B0004020202020204" pitchFamily="34" charset="0"/>
            </a:endParaRPr>
          </a:p>
          <a:p>
            <a:r>
              <a:rPr lang="en-US" dirty="0">
                <a:solidFill>
                  <a:srgbClr val="C00000"/>
                </a:solidFill>
                <a:latin typeface="Aptos Narrow" panose="020B0004020202020204" pitchFamily="34" charset="0"/>
              </a:rPr>
              <a:t>💰 Cost-effective and scalable </a:t>
            </a:r>
            <a:r>
              <a:rPr lang="en-US" dirty="0">
                <a:latin typeface="Aptos Narrow" panose="020B0004020202020204" pitchFamily="34" charset="0"/>
              </a:rPr>
              <a:t>for deployment across multiple locations.</a:t>
            </a:r>
          </a:p>
          <a:p>
            <a:endParaRPr lang="en-US" dirty="0">
              <a:latin typeface="Aptos Narrow" panose="020B0004020202020204" pitchFamily="34" charset="0"/>
            </a:endParaRPr>
          </a:p>
          <a:p>
            <a:r>
              <a:rPr lang="en-US" dirty="0">
                <a:solidFill>
                  <a:srgbClr val="C00000"/>
                </a:solidFill>
                <a:latin typeface="Aptos Narrow" panose="020B0004020202020204" pitchFamily="34" charset="0"/>
              </a:rPr>
              <a:t>🌱 Adaptable to multiple disasters </a:t>
            </a:r>
            <a:r>
              <a:rPr lang="en-US" dirty="0">
                <a:latin typeface="Aptos Narrow" panose="020B0004020202020204" pitchFamily="34" charset="0"/>
              </a:rPr>
              <a:t>such as earthquakes, floods, landslides and fires.</a:t>
            </a:r>
          </a:p>
          <a:p>
            <a:endParaRPr lang="en-US" dirty="0">
              <a:latin typeface="Aptos Narrow" panose="020B0004020202020204" pitchFamily="34" charset="0"/>
            </a:endParaRPr>
          </a:p>
          <a:p>
            <a:r>
              <a:rPr lang="en-US" dirty="0">
                <a:solidFill>
                  <a:srgbClr val="C00000"/>
                </a:solidFill>
                <a:latin typeface="Aptos Narrow" panose="020B0004020202020204" pitchFamily="34" charset="0"/>
              </a:rPr>
              <a:t>📊 Data-driven decision making </a:t>
            </a:r>
            <a:r>
              <a:rPr lang="en-US" dirty="0">
                <a:latin typeface="Aptos Narrow" panose="020B0004020202020204" pitchFamily="34" charset="0"/>
              </a:rPr>
              <a:t>helps authorities plan rescue operations effectively.</a:t>
            </a:r>
          </a:p>
          <a:p>
            <a:endParaRPr lang="en-US" dirty="0">
              <a:latin typeface="Aptos Narrow" panose="020B0004020202020204" pitchFamily="34" charset="0"/>
            </a:endParaRPr>
          </a:p>
          <a:p>
            <a:r>
              <a:rPr lang="en-US" dirty="0">
                <a:latin typeface="Aptos Narrow" panose="020B0004020202020204" pitchFamily="34" charset="0"/>
              </a:rPr>
              <a:t>❤️ Potential to </a:t>
            </a:r>
            <a:r>
              <a:rPr lang="en-US" dirty="0">
                <a:solidFill>
                  <a:srgbClr val="C00000"/>
                </a:solidFill>
                <a:latin typeface="Aptos Narrow" panose="020B0004020202020204" pitchFamily="34" charset="0"/>
              </a:rPr>
              <a:t>save lives and reduce property damage </a:t>
            </a:r>
            <a:r>
              <a:rPr lang="en-US" dirty="0">
                <a:latin typeface="Aptos Narrow" panose="020B0004020202020204" pitchFamily="34" charset="0"/>
              </a:rPr>
              <a:t>through faster and informed action.</a:t>
            </a:r>
          </a:p>
          <a:p>
            <a:endParaRPr lang="en-US" dirty="0">
              <a:latin typeface="Aptos Narrow" panose="020B0004020202020204" pitchFamily="34" charset="0"/>
            </a:endParaRPr>
          </a:p>
          <a:p>
            <a:r>
              <a:rPr lang="en-US" dirty="0">
                <a:latin typeface="Aptos Narrow" panose="020B0004020202020204" pitchFamily="34" charset="0"/>
              </a:rPr>
              <a:t>📍 </a:t>
            </a:r>
            <a:r>
              <a:rPr lang="en-US" dirty="0">
                <a:solidFill>
                  <a:srgbClr val="C00000"/>
                </a:solidFill>
                <a:latin typeface="Aptos Narrow" panose="020B0004020202020204" pitchFamily="34" charset="0"/>
              </a:rPr>
              <a:t>Accurate location tracking </a:t>
            </a:r>
            <a:r>
              <a:rPr lang="en-US" dirty="0">
                <a:latin typeface="Aptos Narrow" panose="020B0004020202020204" pitchFamily="34" charset="0"/>
              </a:rPr>
              <a:t>of the rover and affected areas.</a:t>
            </a:r>
          </a:p>
          <a:p>
            <a:endParaRPr lang="en-IN" dirty="0"/>
          </a:p>
        </p:txBody>
      </p:sp>
      <p:cxnSp>
        <p:nvCxnSpPr>
          <p:cNvPr id="15" name="Straight Connector 14">
            <a:extLst>
              <a:ext uri="{FF2B5EF4-FFF2-40B4-BE49-F238E27FC236}">
                <a16:creationId xmlns:a16="http://schemas.microsoft.com/office/drawing/2014/main" id="{7475DC8B-6BC0-4A13-B087-B7CCD243C02C}"/>
              </a:ext>
            </a:extLst>
          </p:cNvPr>
          <p:cNvCxnSpPr>
            <a:cxnSpLocks/>
          </p:cNvCxnSpPr>
          <p:nvPr/>
        </p:nvCxnSpPr>
        <p:spPr>
          <a:xfrm>
            <a:off x="5717459" y="1028836"/>
            <a:ext cx="0" cy="4949177"/>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89469" y="234328"/>
            <a:ext cx="2475772"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INNOVATRIX</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4" name="TextBox 3">
            <a:extLst>
              <a:ext uri="{FF2B5EF4-FFF2-40B4-BE49-F238E27FC236}">
                <a16:creationId xmlns:a16="http://schemas.microsoft.com/office/drawing/2014/main" id="{22B66383-EA9C-3395-EB81-6393DD96C885}"/>
              </a:ext>
            </a:extLst>
          </p:cNvPr>
          <p:cNvSpPr txBox="1"/>
          <p:nvPr/>
        </p:nvSpPr>
        <p:spPr>
          <a:xfrm>
            <a:off x="1327355" y="2320412"/>
            <a:ext cx="9163664" cy="2031325"/>
          </a:xfrm>
          <a:prstGeom prst="rect">
            <a:avLst/>
          </a:prstGeom>
          <a:noFill/>
        </p:spPr>
        <p:txBody>
          <a:bodyPr wrap="square" rtlCol="0">
            <a:spAutoFit/>
          </a:bodyPr>
          <a:lstStyle/>
          <a:p>
            <a:pPr marL="285750" indent="-285750">
              <a:buFont typeface="Wingdings" panose="05000000000000000000" pitchFamily="2" charset="2"/>
              <a:buChar char="§"/>
            </a:pPr>
            <a:r>
              <a:rPr lang="en-US" dirty="0"/>
              <a:t>Research on IoT-based disaster monitoring systems.</a:t>
            </a:r>
          </a:p>
          <a:p>
            <a:pPr marL="285750" indent="-285750">
              <a:buFont typeface="Wingdings" panose="05000000000000000000" pitchFamily="2" charset="2"/>
              <a:buChar char="§"/>
            </a:pPr>
            <a:r>
              <a:rPr lang="en-US" dirty="0"/>
              <a:t>Studies on seismic and environmental sensing for early warning.</a:t>
            </a:r>
          </a:p>
          <a:p>
            <a:pPr marL="285750" indent="-285750">
              <a:buFont typeface="Wingdings" panose="05000000000000000000" pitchFamily="2" charset="2"/>
              <a:buChar char="§"/>
            </a:pPr>
            <a:r>
              <a:rPr lang="en-US" dirty="0"/>
              <a:t>Research on autonomous rover navigation and disaster robotics.</a:t>
            </a:r>
          </a:p>
          <a:p>
            <a:pPr marL="285750" indent="-285750">
              <a:buFont typeface="Wingdings" panose="05000000000000000000" pitchFamily="2" charset="2"/>
              <a:buChar char="§"/>
            </a:pPr>
            <a:r>
              <a:rPr lang="en-US" dirty="0"/>
              <a:t>Wireless Sensor Networks (WSN) for real-time environmental monitoring.</a:t>
            </a:r>
          </a:p>
          <a:p>
            <a:pPr marL="285750" indent="-285750">
              <a:buFont typeface="Wingdings" panose="05000000000000000000" pitchFamily="2" charset="2"/>
              <a:buChar char="§"/>
            </a:pPr>
            <a:r>
              <a:rPr lang="en-US" dirty="0"/>
              <a:t>Edge/Cloud computing for rapid disaster-data processing.</a:t>
            </a:r>
          </a:p>
          <a:p>
            <a:pPr marL="285750" indent="-285750">
              <a:buFont typeface="Wingdings" panose="05000000000000000000" pitchFamily="2" charset="2"/>
              <a:buChar char="§"/>
            </a:pPr>
            <a:r>
              <a:rPr lang="en-US" dirty="0"/>
              <a:t>Government of India / NDMA guidelines on disaster management.</a:t>
            </a:r>
          </a:p>
          <a:p>
            <a:endParaRPr lang="en-IN" dirty="0"/>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7627</TotalTime>
  <Words>618</Words>
  <Application>Microsoft Office PowerPoint</Application>
  <PresentationFormat>Widescreen</PresentationFormat>
  <Paragraphs>100</Paragraphs>
  <Slides>6</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ＭＳ Ｐゴシック</vt:lpstr>
      <vt:lpstr>Aptos</vt:lpstr>
      <vt:lpstr>Aptos Narrow</vt:lpstr>
      <vt:lpstr>Arial</vt:lpstr>
      <vt:lpstr>Arial Narrow</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   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Mahasree Vinodkumar</cp:lastModifiedBy>
  <cp:revision>150</cp:revision>
  <dcterms:created xsi:type="dcterms:W3CDTF">2013-12-12T18:46:50Z</dcterms:created>
  <dcterms:modified xsi:type="dcterms:W3CDTF">2026-08-29T06:15:02Z</dcterms:modified>
  <cp:category/>
</cp:coreProperties>
</file>